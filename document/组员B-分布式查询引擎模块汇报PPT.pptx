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F4E79"/>
                </a:solidFill>
                <a:latin typeface="PingFang SC"/>
              </a:rPr>
              <a:t>组员 B：分布式查询引擎模块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402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95959"/>
                </a:solidFill>
                <a:latin typeface="PingFang SC"/>
              </a:rPr>
              <a:t>SQL 解析 · 分布式计划 · Worker 执行 · Coordinator 汇总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1417320" cy="566928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SQL 解析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59152" y="3941063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63240" y="3657600"/>
            <a:ext cx="1417320" cy="566928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逻辑计划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07992" y="3941063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12080" y="3657600"/>
            <a:ext cx="1417320" cy="566928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任务路由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56832" y="3941063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20" y="3657600"/>
            <a:ext cx="1417320" cy="56692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本地执行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05672" y="3941063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509760" y="3657600"/>
            <a:ext cx="1417320" cy="566928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结果汇总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632764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PingFang SC"/>
              </a:rPr>
              <a:t>讲述提示：开场说明本模块负责把 SQL 查询转化为分布式执行结果，是系统查询链路的核心部分。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/>
              </a:rPr>
              <a:t>模块目标与职责边界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/>
              </a:rPr>
              <a:t>回答：组员 B 具体做什么，不做什么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32764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PingFang SC"/>
              </a:rPr>
              <a:t>讲述提示：强调本模块是计算层，不负责底层存储、副本和主备切换。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3832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338328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45920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/>
              </a:rPr>
              <a:t>核心目标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039112"/>
            <a:ext cx="3054096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把 SQL 转换为可执行计划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调度多个 Worker 并行执行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合并局部结果为最终结果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支撑现场演示与自动化测试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832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338328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645920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/>
              </a:rPr>
              <a:t>已实现功能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039112"/>
            <a:ext cx="3054096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单表查询、过滤、投影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GROUP BY 与五类聚合函数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主键精准路由与广播路由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双表等值 Join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RPC 子任务下发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3832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338328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645920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PingFang SC"/>
              </a:rPr>
              <a:t>职责边界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039112"/>
            <a:ext cx="3054096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不直接维护磁盘存储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不负责副本一致性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不负责主备选举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通过公共接口对接其他模块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/>
              </a:rPr>
              <a:t>系统位置与模块交互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/>
              </a:rPr>
              <a:t>查询引擎作为 Smart Client / Coordinator 与 Worker 执行层之间的桥梁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32764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PingFang SC"/>
              </a:rPr>
              <a:t>讲述提示：从全局视角说明本模块如何连接 ZooKeeper、元数据、RPC 和 Worker。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82880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用户 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234440"/>
            <a:ext cx="2286000" cy="64008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组员 B
Smart 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868680"/>
            <a:ext cx="1828800" cy="5943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ZooKeeper
服务发现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783080"/>
            <a:ext cx="1828800" cy="5943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Metadata
表结构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697480"/>
            <a:ext cx="1828800" cy="5943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Distribution
分片路由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051560"/>
            <a:ext cx="2194560" cy="6858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Worker 9011
本地执行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240280"/>
            <a:ext cx="2194560" cy="6858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Worker 9012
本地执行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4069080"/>
            <a:ext cx="2286000" cy="64008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最终 QueryResult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651760" y="1554480"/>
            <a:ext cx="365760" cy="59436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303520" y="1161288"/>
            <a:ext cx="548640" cy="393192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03520" y="1554480"/>
            <a:ext cx="548640" cy="521208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03520" y="1554480"/>
            <a:ext cx="548640" cy="1435608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303520" y="1389888"/>
            <a:ext cx="3108960" cy="164592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03520" y="1554480"/>
            <a:ext cx="3108960" cy="1024128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303520" y="1389888"/>
            <a:ext cx="3108960" cy="2999232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303520" y="2578608"/>
            <a:ext cx="3108960" cy="1810512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498348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2626"/>
                </a:solidFill>
                <a:latin typeface="PingFang SC"/>
              </a:defRPr>
            </a:pPr>
            <a:r>
              <a:t>• 查询模块不绕过基础设施：通过 WorkerDiscovery 获取节点，通过 MetadataManager 获取表结构，通过 RPC 与 Worker 通信。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/>
              </a:rPr>
              <a:t>端到端查询执行链路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/>
              </a:rPr>
              <a:t>从一条 SQL 到最终结果的完整路径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32764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PingFang SC"/>
              </a:rPr>
              <a:t>讲述提示：这一页是整套模块的主线，后面的实现细节都围绕这条链路展开。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1234440" cy="6858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SQL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64792" y="2395728"/>
            <a:ext cx="320039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30552" y="2057400"/>
            <a:ext cx="1234440" cy="68580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Parse
QueryAst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92424" y="2395728"/>
            <a:ext cx="320039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58184" y="2057400"/>
            <a:ext cx="1234440" cy="68580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Plan
LogicalPlan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0056" y="2395728"/>
            <a:ext cx="32004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85816" y="2057400"/>
            <a:ext cx="1234440" cy="6858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Route
Targets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47688" y="2395728"/>
            <a:ext cx="320039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13448" y="2057400"/>
            <a:ext cx="1234440" cy="6858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Fragments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75320" y="2395728"/>
            <a:ext cx="32004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41080" y="2057400"/>
            <a:ext cx="1234440" cy="6858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RPC
Worker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902952" y="2395728"/>
            <a:ext cx="32004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68712" y="2057400"/>
            <a:ext cx="1234440" cy="6858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Merge
Result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337560"/>
            <a:ext cx="4846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337560"/>
            <a:ext cx="484632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566160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/>
              </a:rPr>
              <a:t>JSqlParserSqlParser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959352"/>
            <a:ext cx="451713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解析 SQL，提取表、列、WHERE、聚合、Join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337560"/>
            <a:ext cx="4846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337560"/>
            <a:ext cx="484632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566160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/>
              </a:rPr>
              <a:t>SimpleLogicalPlanner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959352"/>
            <a:ext cx="451713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结合 TableMeta 做语义校验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087368"/>
            <a:ext cx="4846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4087368"/>
            <a:ext cx="484632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315968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/>
              </a:rPr>
              <a:t>HashQueryRouter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709159"/>
            <a:ext cx="451713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选择单点路由或广播路由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087368"/>
            <a:ext cx="4846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087368"/>
            <a:ext cx="484632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4315968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PingFang SC"/>
              </a:rPr>
              <a:t>RpcFragmentTaskClient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4709159"/>
            <a:ext cx="451713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将 TaskFragment 下发到 Worker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4837176"/>
            <a:ext cx="4846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4837176"/>
            <a:ext cx="4846320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" y="5065776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504D"/>
                </a:solidFill>
                <a:latin typeface="PingFang SC"/>
              </a:rPr>
              <a:t>ResultMerger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" y="5458968"/>
            <a:ext cx="451713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拼接普通结果或合并聚合状态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/>
              </a:rPr>
              <a:t>核心数据结构设计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/>
              </a:rPr>
              <a:t>用统一模型连接解析、计划、执行和测试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32764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PingFang SC"/>
              </a:rPr>
              <a:t>讲述提示：说明为什么不是直接传 SQL 字符串，而是传结构化 QueryAst 和 TaskFragment。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356616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3236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/>
              </a:rPr>
              <a:t>QueryAst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47672"/>
            <a:ext cx="32369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SQL 解析后的语义对象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tableName / projectionColumns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filterCondition / aggregateCalls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joinTableName / join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25880"/>
            <a:ext cx="356616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554480"/>
            <a:ext cx="3236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/>
              </a:rPr>
              <a:t>TaskFragment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1947672"/>
            <a:ext cx="32369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Coordinator 下发的子任务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workerAddress / partitionId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携带同一份 QueryAst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2588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333756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554480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PingFang SC"/>
              </a:rPr>
              <a:t>PartialQueryResult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1947672"/>
            <a:ext cx="30083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Worker 返回局部结果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普通 rows 或 aggregateBuckets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支持两阶段聚合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4612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246120"/>
            <a:ext cx="3566160" cy="1645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474720"/>
            <a:ext cx="3236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9BD5"/>
                </a:solidFill>
                <a:latin typeface="PingFang SC"/>
              </a:rPr>
              <a:t>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867911"/>
            <a:ext cx="32369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统一行数据表示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支持普通列和 table.column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解决 Join 字段冲突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24612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246120"/>
            <a:ext cx="3566160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3474720"/>
            <a:ext cx="3236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504D"/>
                </a:solidFill>
                <a:latin typeface="PingFang SC"/>
              </a:rPr>
              <a:t>AggregateState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3867911"/>
            <a:ext cx="32369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保存聚合中间状态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accumulate / merge / finalValue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支持 COUNT/SUM/AVG/MAX/MIN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324612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3246120"/>
            <a:ext cx="333756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8471" y="3474720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/>
              </a:rPr>
              <a:t>LogicalPlan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1" y="3867911"/>
            <a:ext cx="30083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绑定 QueryAst 与 TableMeta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保存 Join 表元数据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避免重复访问元数据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212080"/>
            <a:ext cx="1056132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321808"/>
            <a:ext cx="10287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D2D2D"/>
                </a:solidFill>
                <a:latin typeface="Consolas"/>
              </a:rPr>
              <a:t>关键路径：minisql-common/.../query/model/  +  minisql-client/.../planner/LogicalPlan.java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/>
              </a:rPr>
              <a:t>SQL 解析与语义校验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/>
              </a:rPr>
              <a:t>JSqlParserSqlParser + SimpleLogicalPlanner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32764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PingFang SC"/>
              </a:rPr>
              <a:t>讲述提示：讲清楚解析器负责“读懂 SQL”，逻辑计划负责“检查 SQL 是否合理”。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0749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507492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54480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/>
              </a:rPr>
              <a:t>解析器 JSqlParserSqlParser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47672"/>
            <a:ext cx="4745736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支持 SELECT / WHERE / GROUP BY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支持 COUNT、SUM、AVG、MAX、MIN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支持双表等值 Join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把限定列保留为 student.name 形式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生成 QueryAst 供后续模块复用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0749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07492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/>
              </a:rPr>
              <a:t>逻辑计划 SimpleLogicalPlanner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4745736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读取主表与 Join 表 TableMeta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校验投影列、过滤列、分组列是否存在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校验聚合查询中非聚合列必须在 GROUP BY 中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校验 Join 条件左右列合法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输出 LogicalPlan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40680"/>
            <a:ext cx="10149840" cy="438912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0408"/>
            <a:ext cx="98755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D2D2D"/>
                </a:solidFill>
                <a:latin typeface="Consolas"/>
              </a:rPr>
              <a:t>示例：SELECT dept, COUNT(*) AS cnt FROM student WHERE score &gt;= 90 GROUP BY dept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/>
              </a:rPr>
              <a:t>查询路由与分布式计划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/>
              </a:rPr>
              <a:t>HashQueryRouter + SimpleDistributedPlanGenerator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32764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PingFang SC"/>
              </a:rPr>
              <a:t>讲述提示：重点说明什么时候单点路由，什么时候广播，以及 Join 为什么先广播。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347472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/>
              </a:rPr>
              <a:t>精准路由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47672"/>
            <a:ext cx="3145536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条件：主键等值谓词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示例：WHERE id = 1001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只选择一个 Worker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减少网络和计算开销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25880"/>
            <a:ext cx="347472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554480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PingFang SC"/>
              </a:rPr>
              <a:t>广播路由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1947672"/>
            <a:ext cx="3145536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非分片键过滤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聚合扫描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Join 查询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每个 Worker 执行本地分片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2588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347472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554480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/>
              </a:rPr>
              <a:t>分布式计划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1947672"/>
            <a:ext cx="3145536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每个目标 Worker 一个 TaskFragment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携带 partitionId 和 workerAddress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RPC 下发并收集局部结果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可接入 DistributionManager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596128"/>
            <a:ext cx="10149840" cy="41148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705856"/>
            <a:ext cx="98755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D2D2D"/>
                </a:solidFill>
                <a:latin typeface="Consolas"/>
              </a:rPr>
              <a:t>代码：minisql-client/.../router/HashQueryRouter.java；minisql-client/.../planner/SimpleDistributedPlanGenerator.java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/>
              </a:rPr>
              <a:t>Worker 本地物理执行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/>
              </a:rPr>
              <a:t>QueryFragmentExecutor 根据 AST 组装算子链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32764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PingFang SC"/>
              </a:rPr>
              <a:t>讲述提示：把 Worker 看成一个小型执行引擎，每个 Worker 只处理自己的本地分片。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508760"/>
            <a:ext cx="1325880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Scan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67712" y="1810512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508760"/>
            <a:ext cx="1325880" cy="59436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Filter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42232" y="1810512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63440" y="1508760"/>
            <a:ext cx="1325880" cy="5943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Project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6752" y="1810512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37960" y="1508760"/>
            <a:ext cx="1325880" cy="59436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743200"/>
            <a:ext cx="1325880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Scan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67712" y="3044952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88920" y="2743200"/>
            <a:ext cx="1325880" cy="59436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Filter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42232" y="3044952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663440" y="2743200"/>
            <a:ext cx="1600200" cy="5943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Aggregate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91072" y="3044952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12280" y="2743200"/>
            <a:ext cx="1828800" cy="59436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Buckets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977639"/>
            <a:ext cx="1737360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Scan Left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709160"/>
            <a:ext cx="1737360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Scan Right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97480" y="4279392"/>
            <a:ext cx="594360" cy="219456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697480" y="4645152"/>
            <a:ext cx="594360" cy="36576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337560" y="4343400"/>
            <a:ext cx="1325880" cy="5943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Join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681728" y="4645152"/>
            <a:ext cx="54864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230368" y="4343400"/>
            <a:ext cx="1463040" cy="5943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Project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20840" y="4645152"/>
            <a:ext cx="54864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69480" y="4343400"/>
            <a:ext cx="1691640" cy="59436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Join Rows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150876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2626"/>
                </a:solidFill>
                <a:latin typeface="PingFang SC"/>
              </a:defRPr>
            </a:pPr>
            <a:r>
              <a:t>• 算子接口：PhysicalOperator</a:t>
            </a:r>
          </a:p>
          <a:p>
            <a:pPr>
              <a:spcAft>
                <a:spcPts val="700"/>
              </a:spcAft>
              <a:defRPr sz="1300">
                <a:solidFill>
                  <a:srgbClr val="262626"/>
                </a:solidFill>
                <a:latin typeface="PingFang SC"/>
              </a:defRPr>
            </a:pPr>
            <a:r>
              <a:t>• 统一 open / next / close</a:t>
            </a:r>
          </a:p>
          <a:p>
            <a:pPr>
              <a:spcAft>
                <a:spcPts val="700"/>
              </a:spcAft>
              <a:defRPr sz="1300">
                <a:solidFill>
                  <a:srgbClr val="262626"/>
                </a:solidFill>
                <a:latin typeface="PingFang SC"/>
              </a:defRPr>
            </a:pPr>
            <a:r>
              <a:t>• 执行器复用于单元测试和 Worker 服务</a:t>
            </a:r>
          </a:p>
          <a:p>
            <a:pPr>
              <a:spcAft>
                <a:spcPts val="700"/>
              </a:spcAft>
              <a:defRPr sz="1300">
                <a:solidFill>
                  <a:srgbClr val="262626"/>
                </a:solidFill>
                <a:latin typeface="PingFang SC"/>
              </a:defRPr>
            </a:pPr>
            <a:r>
              <a:t>• Join 前包装 table.column 字段名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/>
              </a:rPr>
              <a:t>结果汇总与两阶段聚合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/>
              </a:rPr>
              <a:t>ResultMerger 将多个 Worker 的局部结果合并为最终 QueryResult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32764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PingFang SC"/>
              </a:rPr>
              <a:t>讲述提示：强调聚合不是简单拼接，而是合并中间状态；普通查询和 Join 则拼接行结果。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4290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342900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54480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/>
              </a:rPr>
              <a:t>普通查询 / Join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47672"/>
            <a:ext cx="3099816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Worker 返回 rows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Coordinator 直接拼接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按 LogicalPlan 解析输出列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适合点查、扫描和共分片 Join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4290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25880"/>
            <a:ext cx="342900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554480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/>
              </a:rPr>
              <a:t>聚合查询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1947672"/>
            <a:ext cx="3099816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Worker 返回 AggregateBucket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按 GROUP BY Key 建桶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合并 AggregateState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最终计算 COUNT/SUM/AVG/MAX/MIN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25880"/>
            <a:ext cx="34290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25880"/>
            <a:ext cx="342900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554480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PingFang SC"/>
              </a:rPr>
              <a:t>性能意义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947672"/>
            <a:ext cx="3099816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减少网络传输量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支持多 Worker 并行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结果合并逻辑集中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后续可扩展更多聚合函数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486400"/>
            <a:ext cx="10149840" cy="41148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596128"/>
            <a:ext cx="98755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D2D2D"/>
                </a:solidFill>
                <a:latin typeface="Consolas"/>
              </a:rPr>
              <a:t>代码：minisql-client/src/main/java/com/zju/minisql/client/merger/ResultMerger.java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/>
              </a:rPr>
              <a:t>Join 实现策略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/>
              </a:rPr>
              <a:t>当前实现：共分片本地等值 Join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32764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PingFang SC"/>
              </a:rPr>
              <a:t>讲述提示：讲清楚 Join 的能力和边界：能演示双表等值 Join，但暂未做重分发 Join。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338328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/>
              </a:rPr>
              <a:t>设计前提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47672"/>
            <a:ext cx="3054096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student 与 score 均按 id 分片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相同 id 落在同一个 Worker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Join 查询广播到所有 Worker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每个 Worker 只 Join 本地分片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25880"/>
            <a:ext cx="338328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554480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/>
              </a:rPr>
              <a:t>执行方式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1947672"/>
            <a:ext cx="3054096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QueryFragmentExecutor 读取两张本地表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字段包装为 student.id / score.id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JoinOperator 做等值匹配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Project 输出限定列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2588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338328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554480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PingFang SC"/>
              </a:rPr>
              <a:t>当前边界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1947672"/>
            <a:ext cx="3054096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支持双表等值 Join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支持限定列投影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暂不支持多表 Join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暂不支持非等值 / 外连接 / 重分发 Join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623560"/>
            <a:ext cx="10149840" cy="384048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733288"/>
            <a:ext cx="98755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D2D2D"/>
                </a:solidFill>
                <a:latin typeface="Consolas"/>
              </a:rPr>
              <a:t>演示 SQL：SELECT student.name, score.course FROM student JOIN score ON student.id = score.id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/>
              </a:rPr>
              <a:t>启动流程与演示方式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/>
              </a:rPr>
              <a:t>用于现场验收和后续录屏演示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32764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PingFang SC"/>
              </a:rPr>
              <a:t>讲述提示：这页可以作为录屏演示时的操作清单。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0749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507492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463040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/>
              </a:rPr>
              <a:t>启动顺序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856232"/>
            <a:ext cx="4745736" cy="368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1. 启动 ZooKeeper：./scripts/start-zk-local.sh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2. 启动 Worker 9011：./scripts/start-worker-demo.sh 9011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3. 启动 Worker 9012：./scripts/start-worker-demo.sh 9012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4. 运行 Smart Client 演示入口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0749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07492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63040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/>
              </a:rPr>
              <a:t>默认演示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56232"/>
            <a:ext cx="4745736" cy="368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点查：SELECT name FROM student WHERE id = 1001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聚合：SELECT dept, COUNT(*) AS cnt ... GROUP BY dept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平均值：SELECT dept, AVG(score) ... GROUP BY dept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Join：SELECT student.name, score.course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779008"/>
            <a:ext cx="10149840" cy="329184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888736"/>
            <a:ext cx="98755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>
                <a:solidFill>
                  <a:srgbClr val="2D2D2D"/>
                </a:solidFill>
                <a:latin typeface="Consolas"/>
              </a:rPr>
              <a:t>./scripts/mvn17.sh -q -f minisql-client/pom.xml -DskipTests exec:java -Dexec.mainClass=com.zju.minisql.client.demo.GroupBQueryDemo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/>
              </a:rPr>
              <a:t>测试设计与验证结果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/>
              </a:rPr>
              <a:t>单元测试 + 路由测试 + 端到端 RPC 集成测试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32764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PingFang SC"/>
              </a:rPr>
              <a:t>讲述提示：用这一页证明模块不是只靠手工演示，而是有自动化测试闭环。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27432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274320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63040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/>
              </a:rPr>
              <a:t>解析测试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856232"/>
            <a:ext cx="2414016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JSqlParserSqlParserTest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聚合 SQL 解析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Join SQL 解析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234440"/>
            <a:ext cx="27432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234440"/>
            <a:ext cx="274320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1463040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/>
              </a:rPr>
              <a:t>执行测试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1856232"/>
            <a:ext cx="2414016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QueryFragmentExecutorTest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过滤 + 投影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局部聚合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本地 Join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234440"/>
            <a:ext cx="27432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234440"/>
            <a:ext cx="274320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1" y="1463040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PingFang SC"/>
              </a:rPr>
              <a:t>路由测试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1" y="1856232"/>
            <a:ext cx="2414016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HashQueryRouterTest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主键精准路由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非分片键广播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1234440"/>
            <a:ext cx="23774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18320" y="1234440"/>
            <a:ext cx="2377440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82912" y="1463040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504D"/>
                </a:solidFill>
                <a:latin typeface="PingFang SC"/>
              </a:rPr>
              <a:t>端到端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2" y="1856232"/>
            <a:ext cx="2048256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DistributedQueryCoordinatorIntegrationTest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2 个 RPC Worker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点查/聚合/Join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715000"/>
            <a:ext cx="10607040" cy="384048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39" y="5824728"/>
            <a:ext cx="10332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D2D2D"/>
                </a:solidFill>
                <a:latin typeface="Consolas"/>
              </a:rPr>
              <a:t>最新验证：./scripts/mvn17.sh -q test  通过；RPC 测试已改为动态端口并主动释放服务端资源。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/>
              </a:rPr>
              <a:t>总结与后续扩展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/>
              </a:rPr>
              <a:t>当前模块已完成课程验收核心链路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32764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PingFang SC"/>
              </a:rPr>
              <a:t>讲述提示：收尾时突出已完成闭环，并客观说明后续可扩展方向。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0749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507492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54480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/>
              </a:rPr>
              <a:t>当前成果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47672"/>
            <a:ext cx="4745736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完成 SQL 到 QueryResult 的完整链路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接入 ZooKeeper、Metadata、RPC 和 Worker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支持过滤、投影、聚合、Join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自动化测试覆盖核心路径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可直接用于现场演示和录屏讲解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0749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07492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/>
              </a:rPr>
              <a:t>后续方向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4745736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接入真实存储引擎替换内存仓库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扩展复杂 WHERE 条件与 ORDER BY / LIMIT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支持重分发 Join 与更多 Join 类型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增强故障重试和慢节点规避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/>
              </a:defRPr>
            </a:pPr>
            <a:r>
              <a:t>完善测试服务生命周期管理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692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PingFang SC"/>
              </a:rPr>
              <a:t>一句话总结：组员 B 模块让 MiniSQL 具备了“能解析、能路由、能分布式执行、能汇总结果”的查询能力。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