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91940" y="1234440"/>
            <a:ext cx="4069080" cy="6140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1F4E79"/>
                </a:solidFill>
                <a:latin typeface="PingFang SC" panose="020B0400000000000000" charset="-122"/>
              </a:rPr>
              <a:t>分布式查询引擎模块</a:t>
            </a:r>
            <a:endParaRPr sz="34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97280" y="224028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595959"/>
                </a:solidFill>
                <a:latin typeface="PingFang SC" panose="020B0400000000000000" charset="-122"/>
              </a:rPr>
              <a:t>SQL 解析 · 分布式计划 · Worker 执行 · Coordinator 汇总</a:t>
            </a:r>
            <a:endParaRPr sz="20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914400" y="3657600"/>
            <a:ext cx="1417320" cy="566928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SQL 解析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2359152" y="3941063"/>
            <a:ext cx="521208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63240" y="3657600"/>
            <a:ext cx="1417320" cy="566928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逻辑计划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4507992" y="3941063"/>
            <a:ext cx="521208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212080" y="3657600"/>
            <a:ext cx="1417320" cy="566928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任务路由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6656832" y="3941063"/>
            <a:ext cx="521208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60920" y="3657600"/>
            <a:ext cx="1417320" cy="566928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本地执行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8805672" y="3941063"/>
            <a:ext cx="521208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509760" y="3657600"/>
            <a:ext cx="1417320" cy="566928"/>
          </a:xfrm>
          <a:prstGeom prst="roundRect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结果汇总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02920" y="6272784"/>
            <a:ext cx="11155680" cy="9144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632764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PingFang SC" panose="020B0400000000000000" charset="-122"/>
              </a:rPr>
              <a:t>1</a:t>
            </a:r>
            <a:endParaRPr sz="10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PingFang SC" panose="020B0400000000000000" charset="-122"/>
              </a:rPr>
              <a:t>模块目标与职责边界</a:t>
            </a:r>
            <a:endParaRPr sz="28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272784"/>
            <a:ext cx="11155680" cy="9144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632764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PingFang SC" panose="020B0400000000000000" charset="-122"/>
              </a:rPr>
              <a:t>2</a:t>
            </a:r>
            <a:endParaRPr sz="10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31520" y="1417320"/>
            <a:ext cx="33832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17320"/>
            <a:ext cx="3383280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645920"/>
            <a:ext cx="3054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  <a:latin typeface="PingFang SC" panose="020B0400000000000000" charset="-122"/>
              </a:rPr>
              <a:t>核心目标</a:t>
            </a:r>
            <a:endParaRPr sz="16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96112" y="2039112"/>
            <a:ext cx="3054096" cy="3273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把 SQL 转换为可执行计划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调度多个 Worker 并行执行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合并局部结果为最终结果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支撑现场演示与自动化测试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417320"/>
            <a:ext cx="33832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417320"/>
            <a:ext cx="3383280" cy="16459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1645920"/>
            <a:ext cx="3054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70AD47"/>
                </a:solidFill>
                <a:latin typeface="PingFang SC" panose="020B0400000000000000" charset="-122"/>
              </a:rPr>
              <a:t>已实现功能</a:t>
            </a:r>
            <a:endParaRPr sz="1600" b="1">
              <a:solidFill>
                <a:srgbClr val="70AD47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99431" y="2039112"/>
            <a:ext cx="3054096" cy="3273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单表查询、过滤、投影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GROUP BY 与五类聚合函数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主键精准路由与广播路由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双表等值 Join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RPC 子任务下发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417320"/>
            <a:ext cx="33832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417320"/>
            <a:ext cx="3383280" cy="1645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645920"/>
            <a:ext cx="3054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D7D31"/>
                </a:solidFill>
                <a:latin typeface="PingFang SC" panose="020B0400000000000000" charset="-122"/>
              </a:rPr>
              <a:t>职责边界</a:t>
            </a:r>
            <a:endParaRPr sz="1600" b="1">
              <a:solidFill>
                <a:srgbClr val="ED7D31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02752" y="2039112"/>
            <a:ext cx="3054096" cy="3273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不直接维护磁盘存储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不负责副本一致性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不负责主备选举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通过公共接口对接其他模块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PingFang SC" panose="020B0400000000000000" charset="-122"/>
              </a:rPr>
              <a:t>系统位置与模块交互</a:t>
            </a:r>
            <a:endParaRPr sz="28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89611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PingFang SC" panose="020B0400000000000000" charset="-122"/>
              </a:rPr>
              <a:t>查询引擎作为 Smart Client / Coordinator 与 Worker 执行层之间的桥梁</a:t>
            </a:r>
            <a:endParaRPr sz="12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272784"/>
            <a:ext cx="11155680" cy="9144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632764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PingFang SC" panose="020B0400000000000000" charset="-122"/>
              </a:rPr>
              <a:t>3</a:t>
            </a:r>
            <a:endParaRPr sz="10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828800" cy="6400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用户 SQL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017520" y="1234440"/>
            <a:ext cx="2286000" cy="64008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组员 B
Smart Client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852160" y="868680"/>
            <a:ext cx="1828800" cy="59436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ZooKeeper
服务发现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852160" y="1783080"/>
            <a:ext cx="1828800" cy="59436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Metadata
表结构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852160" y="2697480"/>
            <a:ext cx="1828800" cy="59436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Distribution
分片路由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412480" y="1051560"/>
            <a:ext cx="2194560" cy="6858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Worker 9011
本地执行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412480" y="2240280"/>
            <a:ext cx="2194560" cy="6858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Worker 9012
本地执行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017520" y="4069080"/>
            <a:ext cx="2286000" cy="640080"/>
          </a:xfrm>
          <a:prstGeom prst="roundRect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最终 QueryResult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16" name="Connector 15"/>
          <p:cNvCxnSpPr/>
          <p:nvPr/>
        </p:nvCxnSpPr>
        <p:spPr>
          <a:xfrm flipV="1">
            <a:off x="2651760" y="1554480"/>
            <a:ext cx="365760" cy="59436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303520" y="1161288"/>
            <a:ext cx="548640" cy="393192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03520" y="1554480"/>
            <a:ext cx="548640" cy="521208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03520" y="1554480"/>
            <a:ext cx="548640" cy="1435608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303520" y="1389888"/>
            <a:ext cx="3108960" cy="164592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303520" y="1554480"/>
            <a:ext cx="3108960" cy="1024128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303520" y="1389888"/>
            <a:ext cx="3108960" cy="2999232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5303520" y="2578608"/>
            <a:ext cx="3108960" cy="1810512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60" y="4983480"/>
            <a:ext cx="10241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• 查询模块不绕过基础设施：通过 WorkerDiscovery 获取节点，通过 MetadataManager 获取表结构，通过 RPC 与 Worker 通信。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PingFang SC" panose="020B0400000000000000" charset="-122"/>
              </a:rPr>
              <a:t>端到端查询执行链路</a:t>
            </a:r>
            <a:endParaRPr sz="28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89611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PingFang SC" panose="020B0400000000000000" charset="-122"/>
              </a:rPr>
              <a:t>从一条 SQL 到最终结果的完整路径</a:t>
            </a:r>
            <a:endParaRPr sz="12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272784"/>
            <a:ext cx="11155680" cy="9144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632764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PingFang SC" panose="020B0400000000000000" charset="-122"/>
              </a:rPr>
              <a:t>4</a:t>
            </a:r>
            <a:endParaRPr sz="10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2057400"/>
            <a:ext cx="1234440" cy="6858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SQL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1764792" y="2395728"/>
            <a:ext cx="320039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130552" y="2057400"/>
            <a:ext cx="1234440" cy="6858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Parse
QueryAst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3392424" y="2395728"/>
            <a:ext cx="320039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758184" y="2057400"/>
            <a:ext cx="1234440" cy="6858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Plan
LogicalPlan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5020056" y="2395728"/>
            <a:ext cx="320040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85816" y="2057400"/>
            <a:ext cx="1234440" cy="68580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Route
Targets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6647688" y="2395728"/>
            <a:ext cx="320039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13448" y="2057400"/>
            <a:ext cx="1234440" cy="68580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Fragments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8275320" y="2395728"/>
            <a:ext cx="320040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641080" y="2057400"/>
            <a:ext cx="1234440" cy="6858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RPC
Worker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9902952" y="2395728"/>
            <a:ext cx="320040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268712" y="2057400"/>
            <a:ext cx="1234440" cy="685800"/>
          </a:xfrm>
          <a:prstGeom prst="roundRect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Merge
Result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14400" y="3337560"/>
            <a:ext cx="4846320" cy="6864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3337560"/>
            <a:ext cx="4846320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3566160"/>
            <a:ext cx="45171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  <a:latin typeface="PingFang SC" panose="020B0400000000000000" charset="-122"/>
              </a:rPr>
              <a:t>JSqlParserSqlParser</a:t>
            </a:r>
            <a:endParaRPr sz="16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78992" y="3776473"/>
            <a:ext cx="4517136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解析 SQL，提取表、列、WHERE、聚合、Join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37560"/>
            <a:ext cx="4846320" cy="68897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37560"/>
            <a:ext cx="4846320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36792" y="3566160"/>
            <a:ext cx="45171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  <a:latin typeface="PingFang SC" panose="020B0400000000000000" charset="-122"/>
              </a:rPr>
              <a:t>SimpleLogicalPlanner</a:t>
            </a:r>
            <a:endParaRPr sz="16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336792" y="3776473"/>
            <a:ext cx="4517136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结合 TableMeta 做语义校验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4087495"/>
            <a:ext cx="4846320" cy="6845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" y="4087368"/>
            <a:ext cx="4846320" cy="16459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" y="4315968"/>
            <a:ext cx="45171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70AD47"/>
                </a:solidFill>
                <a:latin typeface="PingFang SC" panose="020B0400000000000000" charset="-122"/>
              </a:rPr>
              <a:t>HashQueryRouter</a:t>
            </a:r>
            <a:endParaRPr sz="1600" b="1">
              <a:solidFill>
                <a:srgbClr val="70AD47"/>
              </a:solidFill>
              <a:latin typeface="PingFang SC" panose="020B0400000000000000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78992" y="4526280"/>
            <a:ext cx="4517136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选择单点路由或广播路由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4087495"/>
            <a:ext cx="4846320" cy="68389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4087368"/>
            <a:ext cx="4846320" cy="1645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36792" y="4315968"/>
            <a:ext cx="45171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D7D31"/>
                </a:solidFill>
                <a:latin typeface="PingFang SC" panose="020B0400000000000000" charset="-122"/>
              </a:rPr>
              <a:t>RpcFragmentTaskClient</a:t>
            </a:r>
            <a:endParaRPr sz="1600" b="1">
              <a:solidFill>
                <a:srgbClr val="ED7D31"/>
              </a:solidFill>
              <a:latin typeface="PingFang SC" panose="020B0400000000000000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336792" y="4526280"/>
            <a:ext cx="4517136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将 TaskFragment 下发到 Worker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4837430"/>
            <a:ext cx="4846320" cy="68389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4837176"/>
            <a:ext cx="4846320" cy="164592"/>
          </a:xfrm>
          <a:prstGeom prst="rect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78992" y="5065776"/>
            <a:ext cx="45171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504D"/>
                </a:solidFill>
                <a:latin typeface="PingFang SC" panose="020B0400000000000000" charset="-122"/>
              </a:rPr>
              <a:t>ResultMerger</a:t>
            </a:r>
            <a:endParaRPr sz="1600" b="1">
              <a:solidFill>
                <a:srgbClr val="C0504D"/>
              </a:solidFill>
              <a:latin typeface="PingFang SC" panose="020B0400000000000000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078992" y="5276089"/>
            <a:ext cx="4517136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拼接普通结果或合并聚合状态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PingFang SC" panose="020B0400000000000000" charset="-122"/>
              </a:rPr>
              <a:t>核心数据结构设计</a:t>
            </a:r>
            <a:endParaRPr sz="28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89611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PingFang SC" panose="020B0400000000000000" charset="-122"/>
              </a:rPr>
              <a:t>用统一模型连接解析、计划、执行和测试</a:t>
            </a:r>
            <a:endParaRPr sz="12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272784"/>
            <a:ext cx="11155680" cy="9144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632764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PingFang SC" panose="020B0400000000000000" charset="-122"/>
              </a:rPr>
              <a:t>5</a:t>
            </a:r>
            <a:endParaRPr sz="10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1325880"/>
            <a:ext cx="3566160" cy="16332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3566160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554480"/>
            <a:ext cx="32369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  <a:latin typeface="PingFang SC" panose="020B0400000000000000" charset="-122"/>
              </a:rPr>
              <a:t>QueryAst</a:t>
            </a:r>
            <a:endParaRPr sz="16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0392" y="1947672"/>
            <a:ext cx="323697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SQL 解析后的语义对象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tableName / projectionColumns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filterCondition / aggregateCalls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joinTableName / join columns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325880"/>
            <a:ext cx="3566160" cy="16383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325880"/>
            <a:ext cx="3566160" cy="16459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1554480"/>
            <a:ext cx="32369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70AD47"/>
                </a:solidFill>
                <a:latin typeface="PingFang SC" panose="020B0400000000000000" charset="-122"/>
              </a:rPr>
              <a:t>TaskFragment</a:t>
            </a:r>
            <a:endParaRPr sz="1600" b="1">
              <a:solidFill>
                <a:srgbClr val="70AD47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99431" y="1947672"/>
            <a:ext cx="323697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Coordinator 下发的子任务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workerAddress / partitionId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携带同一份 QueryAst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325880"/>
            <a:ext cx="3337560" cy="16332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325880"/>
            <a:ext cx="3337560" cy="1645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554480"/>
            <a:ext cx="30083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D7D31"/>
                </a:solidFill>
                <a:latin typeface="PingFang SC" panose="020B0400000000000000" charset="-122"/>
              </a:rPr>
              <a:t>PartialQueryResult</a:t>
            </a:r>
            <a:endParaRPr sz="1600" b="1">
              <a:solidFill>
                <a:srgbClr val="ED7D31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48471" y="1947672"/>
            <a:ext cx="300837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Worker 返回局部结果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普通 rows 或 aggregateBuckets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支持两阶段聚合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246120"/>
            <a:ext cx="35661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3246120"/>
            <a:ext cx="3566160" cy="16459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" y="3474720"/>
            <a:ext cx="32369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9BD5"/>
                </a:solidFill>
                <a:latin typeface="PingFang SC" panose="020B0400000000000000" charset="-122"/>
              </a:rPr>
              <a:t>Row</a:t>
            </a:r>
            <a:endParaRPr sz="1600" b="1">
              <a:solidFill>
                <a:srgbClr val="5B9BD5"/>
              </a:solidFill>
              <a:latin typeface="PingFang SC" panose="020B0400000000000000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50392" y="3867911"/>
            <a:ext cx="323697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统一行数据表示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支持普通列和 table.column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解决 Join 字段冲突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246120"/>
            <a:ext cx="35661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34840" y="3246120"/>
            <a:ext cx="3566160" cy="164592"/>
          </a:xfrm>
          <a:prstGeom prst="rect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9431" y="3474720"/>
            <a:ext cx="32369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504D"/>
                </a:solidFill>
                <a:latin typeface="PingFang SC" panose="020B0400000000000000" charset="-122"/>
              </a:rPr>
              <a:t>AggregateState</a:t>
            </a:r>
            <a:endParaRPr sz="1600" b="1">
              <a:solidFill>
                <a:srgbClr val="C0504D"/>
              </a:solidFill>
              <a:latin typeface="PingFang SC" panose="020B0400000000000000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599431" y="3867911"/>
            <a:ext cx="323697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保存聚合中间状态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accumulate / merge / finalValue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支持 COUNT/SUM/AVG/MAX/MIN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32461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3246120"/>
            <a:ext cx="3337560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48471" y="3474720"/>
            <a:ext cx="30083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  <a:latin typeface="PingFang SC" panose="020B0400000000000000" charset="-122"/>
              </a:rPr>
              <a:t>LogicalPlan</a:t>
            </a:r>
            <a:endParaRPr sz="16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48471" y="3867911"/>
            <a:ext cx="300837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绑定 QueryAst 与 TableMeta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保存 Join 表元数据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避免重复访问元数据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212080"/>
            <a:ext cx="10561320" cy="594360"/>
          </a:xfrm>
          <a:prstGeom prst="roundRect">
            <a:avLst/>
          </a:prstGeom>
          <a:solidFill>
            <a:srgbClr val="F5F7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321808"/>
            <a:ext cx="102870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D2D2D"/>
                </a:solidFill>
                <a:latin typeface="Consolas"/>
              </a:rPr>
              <a:t>关键路径：minisql-common/.../query/model/  +  minisql-client/.../planner/LogicalPlan.java</a:t>
            </a:r>
            <a:endParaRPr sz="1100">
              <a:solidFill>
                <a:srgbClr val="2D2D2D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PingFang SC" panose="020B0400000000000000" charset="-122"/>
              </a:rPr>
              <a:t>SQL 解析与语义校验</a:t>
            </a:r>
            <a:endParaRPr sz="28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89611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PingFang SC" panose="020B0400000000000000" charset="-122"/>
              </a:rPr>
              <a:t>JSqlParserSqlParser + SimpleLogicalPlanner</a:t>
            </a:r>
            <a:endParaRPr sz="12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272784"/>
            <a:ext cx="11155680" cy="9144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632764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PingFang SC" panose="020B0400000000000000" charset="-122"/>
              </a:rPr>
              <a:t>6</a:t>
            </a:r>
            <a:endParaRPr sz="10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5074920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325880"/>
            <a:ext cx="5074920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554480"/>
            <a:ext cx="4745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  <a:latin typeface="PingFang SC" panose="020B0400000000000000" charset="-122"/>
              </a:rPr>
              <a:t>解析器 JSqlParserSqlParser</a:t>
            </a:r>
            <a:endParaRPr sz="16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96112" y="1947672"/>
            <a:ext cx="4745736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支持 SELECT / WHERE / GROUP BY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支持 COUNT、SUM、AVG、MAX、MIN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支持双表等值 Join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把限定列保留为 student.name 形式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生成 QueryAst 供后续模块复用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25880"/>
            <a:ext cx="5074920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25880"/>
            <a:ext cx="5074920" cy="16459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554480"/>
            <a:ext cx="4745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70AD47"/>
                </a:solidFill>
                <a:latin typeface="PingFang SC" panose="020B0400000000000000" charset="-122"/>
              </a:rPr>
              <a:t>逻辑计划 SimpleLogicalPlanner</a:t>
            </a:r>
            <a:endParaRPr sz="1600" b="1">
              <a:solidFill>
                <a:srgbClr val="70AD47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4745736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读取主表与 Join 表 TableMeta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校验投影列、过滤列、分组列是否存在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校验聚合查询中非聚合列必须在 GROUP BY 中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校验 Join 条件左右列合法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输出 LogicalPlan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440680"/>
            <a:ext cx="10149840" cy="438912"/>
          </a:xfrm>
          <a:prstGeom prst="roundRect">
            <a:avLst/>
          </a:prstGeom>
          <a:solidFill>
            <a:srgbClr val="F5F7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550408"/>
            <a:ext cx="987551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D2D2D"/>
                </a:solidFill>
                <a:latin typeface="Consolas"/>
              </a:rPr>
              <a:t>示例：SELECT dept, COUNT(*) AS cnt FROM student WHERE score &gt;= 90 GROUP BY dept</a:t>
            </a:r>
            <a:endParaRPr sz="1050">
              <a:solidFill>
                <a:srgbClr val="2D2D2D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PingFang SC" panose="020B0400000000000000" charset="-122"/>
              </a:rPr>
              <a:t>查询路由与分布式计划</a:t>
            </a:r>
            <a:endParaRPr sz="28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89611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PingFang SC" panose="020B0400000000000000" charset="-122"/>
              </a:rPr>
              <a:t>HashQueryRouter + SimpleDistributedPlanGenerator</a:t>
            </a:r>
            <a:endParaRPr sz="12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272784"/>
            <a:ext cx="11155680" cy="9144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632764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PingFang SC" panose="020B0400000000000000" charset="-122"/>
              </a:rPr>
              <a:t>7</a:t>
            </a:r>
            <a:endParaRPr sz="10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1325880"/>
            <a:ext cx="34747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3474720" cy="16459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554480"/>
            <a:ext cx="3145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70AD47"/>
                </a:solidFill>
                <a:latin typeface="PingFang SC" panose="020B0400000000000000" charset="-122"/>
              </a:rPr>
              <a:t>精准路由</a:t>
            </a:r>
            <a:endParaRPr sz="1600" b="1">
              <a:solidFill>
                <a:srgbClr val="70AD47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0392" y="1947672"/>
            <a:ext cx="3145536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条件：主键等值谓词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示例：WHERE id = 1001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只选择一个 Worker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减少网络和计算开销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325880"/>
            <a:ext cx="34747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325880"/>
            <a:ext cx="3474720" cy="1645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1554480"/>
            <a:ext cx="3145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D7D31"/>
                </a:solidFill>
                <a:latin typeface="PingFang SC" panose="020B0400000000000000" charset="-122"/>
              </a:rPr>
              <a:t>广播路由</a:t>
            </a:r>
            <a:endParaRPr sz="1600" b="1">
              <a:solidFill>
                <a:srgbClr val="ED7D31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99431" y="1947672"/>
            <a:ext cx="3145536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非分片键过滤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聚合扫描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Join 查询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每个 Worker 执行本地分片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325880"/>
            <a:ext cx="34747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325880"/>
            <a:ext cx="3474720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554480"/>
            <a:ext cx="3145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  <a:latin typeface="PingFang SC" panose="020B0400000000000000" charset="-122"/>
              </a:rPr>
              <a:t>分布式计划</a:t>
            </a:r>
            <a:endParaRPr sz="16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48471" y="1947672"/>
            <a:ext cx="3145536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每个目标 Worker 一个 TaskFragment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携带 partitionId 和 workerAddress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RPC 下发并收集局部结果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可接入 DistributionManager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596128"/>
            <a:ext cx="10149840" cy="411480"/>
          </a:xfrm>
          <a:prstGeom prst="roundRect">
            <a:avLst/>
          </a:prstGeom>
          <a:solidFill>
            <a:srgbClr val="F5F7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705856"/>
            <a:ext cx="98755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D2D2D"/>
                </a:solidFill>
                <a:latin typeface="Consolas"/>
              </a:rPr>
              <a:t>代码：minisql-client/.../router/HashQueryRouter.java；minisql-client/.../planner/SimpleDistributedPlanGenerator.java</a:t>
            </a:r>
            <a:endParaRPr sz="1000">
              <a:solidFill>
                <a:srgbClr val="2D2D2D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PingFang SC" panose="020B0400000000000000" charset="-122"/>
              </a:rPr>
              <a:t>Worker 本地物理执行</a:t>
            </a:r>
            <a:endParaRPr sz="28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89611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PingFang SC" panose="020B0400000000000000" charset="-122"/>
              </a:rPr>
              <a:t>QueryFragmentExecutor 根据 AST 组装算子链</a:t>
            </a:r>
            <a:endParaRPr sz="12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272784"/>
            <a:ext cx="11155680" cy="9144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632764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PingFang SC" panose="020B0400000000000000" charset="-122"/>
              </a:rPr>
              <a:t>8</a:t>
            </a:r>
            <a:endParaRPr sz="10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14400" y="1508760"/>
            <a:ext cx="1325880" cy="5943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Scan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2267712" y="1810512"/>
            <a:ext cx="521208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88920" y="1508760"/>
            <a:ext cx="1325880" cy="59436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Filter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4142232" y="1810512"/>
            <a:ext cx="521208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663440" y="1508760"/>
            <a:ext cx="1325880" cy="59436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Project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6016752" y="1810512"/>
            <a:ext cx="521208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37960" y="1508760"/>
            <a:ext cx="1325880" cy="594360"/>
          </a:xfrm>
          <a:prstGeom prst="roundRect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Rows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14400" y="2743200"/>
            <a:ext cx="1325880" cy="5943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Scan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2267712" y="3044952"/>
            <a:ext cx="521208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788920" y="2743200"/>
            <a:ext cx="1325880" cy="59436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Filter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4142232" y="3044952"/>
            <a:ext cx="521208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2743200"/>
            <a:ext cx="1600200" cy="59436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Aggregate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6291072" y="3044952"/>
            <a:ext cx="521208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12280" y="2743200"/>
            <a:ext cx="1828800" cy="594360"/>
          </a:xfrm>
          <a:prstGeom prst="roundRect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Buckets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14400" y="3977639"/>
            <a:ext cx="1737360" cy="5943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Scan Left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914400" y="4709160"/>
            <a:ext cx="1737360" cy="5943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Scan Right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2697480" y="4279392"/>
            <a:ext cx="594360" cy="219456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697480" y="4645152"/>
            <a:ext cx="594360" cy="36576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337560" y="4343400"/>
            <a:ext cx="1325880" cy="59436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Join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4681728" y="4645152"/>
            <a:ext cx="548640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230368" y="4343400"/>
            <a:ext cx="1463040" cy="59436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Project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6720840" y="4645152"/>
            <a:ext cx="548640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269480" y="4343400"/>
            <a:ext cx="1691640" cy="594360"/>
          </a:xfrm>
          <a:prstGeom prst="roundRect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 panose="020B0400000000000000" charset="-122"/>
              </a:rPr>
              <a:t>Join Rows</a:t>
            </a:r>
            <a:endParaRPr sz="1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144000" y="150876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• 算子接口：PhysicalOperator</a:t>
            </a:r>
          </a:p>
          <a:p>
            <a:pPr>
              <a:spcAft>
                <a:spcPts val="700"/>
              </a:spcAft>
              <a:defRPr sz="130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• 统一 open / next / close</a:t>
            </a:r>
          </a:p>
          <a:p>
            <a:pPr>
              <a:spcAft>
                <a:spcPts val="700"/>
              </a:spcAft>
              <a:defRPr sz="130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• 执行器复用于单元测试和 Worker 服务</a:t>
            </a:r>
          </a:p>
          <a:p>
            <a:pPr>
              <a:spcAft>
                <a:spcPts val="700"/>
              </a:spcAft>
              <a:defRPr sz="130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• Join 前包装 table.column 字段名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PingFang SC" panose="020B0400000000000000" charset="-122"/>
              </a:rPr>
              <a:t>结果汇总与两阶段聚合</a:t>
            </a:r>
            <a:endParaRPr sz="28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89611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PingFang SC" panose="020B0400000000000000" charset="-122"/>
              </a:rPr>
              <a:t>ResultMerger 将多个 Worker 的局部结果合并为最终 QueryResult</a:t>
            </a:r>
            <a:endParaRPr sz="12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272784"/>
            <a:ext cx="11155680" cy="9144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632764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PingFang SC" panose="020B0400000000000000" charset="-122"/>
              </a:rPr>
              <a:t>9</a:t>
            </a:r>
            <a:endParaRPr sz="10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34290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325880"/>
            <a:ext cx="3429000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554480"/>
            <a:ext cx="3099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  <a:latin typeface="PingFang SC" panose="020B0400000000000000" charset="-122"/>
              </a:rPr>
              <a:t>普通查询 / Join</a:t>
            </a:r>
            <a:endParaRPr sz="16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96112" y="1947672"/>
            <a:ext cx="3099816" cy="3227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Worker 返回 rows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Coordinator 直接拼接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按 LogicalPlan 解析输出列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适合点查、扫描和共分片 Join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325880"/>
            <a:ext cx="34290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325880"/>
            <a:ext cx="3429000" cy="16459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1554480"/>
            <a:ext cx="3099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70AD47"/>
                </a:solidFill>
                <a:latin typeface="PingFang SC" panose="020B0400000000000000" charset="-122"/>
              </a:rPr>
              <a:t>聚合查询</a:t>
            </a:r>
            <a:endParaRPr sz="1600" b="1">
              <a:solidFill>
                <a:srgbClr val="70AD47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99431" y="1947672"/>
            <a:ext cx="3099816" cy="3227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Worker 返回 AggregateBucket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按 GROUP BY Key 建桶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合并 AggregateState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最终计算 COUNT/SUM/AVG/MAX/MIN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25880"/>
            <a:ext cx="34290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325880"/>
            <a:ext cx="3429000" cy="1645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554480"/>
            <a:ext cx="3099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D7D31"/>
                </a:solidFill>
                <a:latin typeface="PingFang SC" panose="020B0400000000000000" charset="-122"/>
              </a:rPr>
              <a:t>性能意义</a:t>
            </a:r>
            <a:endParaRPr sz="1600" b="1">
              <a:solidFill>
                <a:srgbClr val="ED7D31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02752" y="1947672"/>
            <a:ext cx="3099816" cy="3227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减少网络传输量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支持多 Worker 并行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结果合并逻辑集中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后续可扩展更多聚合函数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486400"/>
            <a:ext cx="10149840" cy="411480"/>
          </a:xfrm>
          <a:prstGeom prst="roundRect">
            <a:avLst/>
          </a:prstGeom>
          <a:solidFill>
            <a:srgbClr val="F5F7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596128"/>
            <a:ext cx="98755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D2D2D"/>
                </a:solidFill>
                <a:latin typeface="Consolas"/>
              </a:rPr>
              <a:t>代码：minisql-client/src/main/java/com/zju/minisql/client/merger/ResultMerger.java</a:t>
            </a:r>
            <a:endParaRPr sz="1050">
              <a:solidFill>
                <a:srgbClr val="2D2D2D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PingFang SC" panose="020B0400000000000000" charset="-122"/>
              </a:rPr>
              <a:t>Join 实现策略</a:t>
            </a:r>
            <a:endParaRPr sz="28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89611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PingFang SC" panose="020B0400000000000000" charset="-122"/>
              </a:rPr>
              <a:t>当前实现：共分片本地等值 Join</a:t>
            </a:r>
            <a:endParaRPr sz="12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272784"/>
            <a:ext cx="11155680" cy="9144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632764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PingFang SC" panose="020B0400000000000000" charset="-122"/>
              </a:rPr>
              <a:t>10</a:t>
            </a:r>
            <a:endParaRPr sz="10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1325880"/>
            <a:ext cx="338328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3383280" cy="16459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554480"/>
            <a:ext cx="3054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70AD47"/>
                </a:solidFill>
                <a:latin typeface="PingFang SC" panose="020B0400000000000000" charset="-122"/>
              </a:rPr>
              <a:t>设计前提</a:t>
            </a:r>
            <a:endParaRPr sz="1600" b="1">
              <a:solidFill>
                <a:srgbClr val="70AD47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0392" y="1947672"/>
            <a:ext cx="3054096" cy="341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student 与 score 均按 id 分片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相同 id 落在同一个 Worker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Join 查询广播到所有 Worker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每个 Worker 只 Join 本地分片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325880"/>
            <a:ext cx="338328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325880"/>
            <a:ext cx="3383280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1554480"/>
            <a:ext cx="3054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  <a:latin typeface="PingFang SC" panose="020B0400000000000000" charset="-122"/>
              </a:rPr>
              <a:t>执行方式</a:t>
            </a:r>
            <a:endParaRPr sz="16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99431" y="1947672"/>
            <a:ext cx="3054096" cy="341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QueryFragmentExecutor 读取两张本地表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字段包装为 student.id / score.id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JoinOperator 做等值匹配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Project 输出限定列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325880"/>
            <a:ext cx="338328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325880"/>
            <a:ext cx="3383280" cy="1645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554480"/>
            <a:ext cx="3054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D7D31"/>
                </a:solidFill>
                <a:latin typeface="PingFang SC" panose="020B0400000000000000" charset="-122"/>
              </a:rPr>
              <a:t>当前边界</a:t>
            </a:r>
            <a:endParaRPr sz="1600" b="1">
              <a:solidFill>
                <a:srgbClr val="ED7D31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48471" y="1947672"/>
            <a:ext cx="3054096" cy="341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支持双表等值 Join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支持限定列投影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暂不支持多表 Join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暂不支持非等值 / 外连接 / 重分发 Join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623560"/>
            <a:ext cx="10149840" cy="384048"/>
          </a:xfrm>
          <a:prstGeom prst="roundRect">
            <a:avLst/>
          </a:prstGeom>
          <a:solidFill>
            <a:srgbClr val="F5F7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733288"/>
            <a:ext cx="987551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D2D2D"/>
                </a:solidFill>
                <a:latin typeface="Consolas"/>
              </a:rPr>
              <a:t>演示 SQL：SELECT student.name, score.course FROM student JOIN score ON student.id = score.id</a:t>
            </a:r>
            <a:endParaRPr sz="1050">
              <a:solidFill>
                <a:srgbClr val="2D2D2D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PingFang SC" panose="020B0400000000000000" charset="-122"/>
              </a:rPr>
              <a:t>启动流程与演示方式</a:t>
            </a:r>
            <a:endParaRPr sz="28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89611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PingFang SC" panose="020B0400000000000000" charset="-122"/>
              </a:rPr>
              <a:t>用于现场验收和后续录屏演示</a:t>
            </a:r>
            <a:endParaRPr sz="12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272784"/>
            <a:ext cx="11155680" cy="9144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632764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PingFang SC" panose="020B0400000000000000" charset="-122"/>
              </a:rPr>
              <a:t>11</a:t>
            </a:r>
            <a:endParaRPr sz="10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0749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5074920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463040"/>
            <a:ext cx="4745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  <a:latin typeface="PingFang SC" panose="020B0400000000000000" charset="-122"/>
              </a:rPr>
              <a:t>启动顺序</a:t>
            </a:r>
            <a:endParaRPr sz="16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96112" y="1856232"/>
            <a:ext cx="4745736" cy="3685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1. 启动 ZooKeeper：./scripts/start-zk-local.sh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2. 启动 Worker 9011：./scripts/start-worker-demo.sh 9011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3. 启动 Worker 9012：./scripts/start-worker-demo.sh 9012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4. 运行 Smart Client 演示入口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34440"/>
            <a:ext cx="50749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5074920" cy="16459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463040"/>
            <a:ext cx="4745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70AD47"/>
                </a:solidFill>
                <a:latin typeface="PingFang SC" panose="020B0400000000000000" charset="-122"/>
              </a:rPr>
              <a:t>默认演示 SQL</a:t>
            </a:r>
            <a:endParaRPr sz="1600" b="1">
              <a:solidFill>
                <a:srgbClr val="70AD47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382512" y="1856232"/>
            <a:ext cx="4745736" cy="3685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点查：SELECT name FROM student WHERE id = 1001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聚合：SELECT dept, COUNT(*) AS cnt ... GROUP BY dept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平均值：SELECT dept, AVG(score) ... GROUP BY dept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Join：SELECT student.name, score.course 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779008"/>
            <a:ext cx="10149840" cy="329184"/>
          </a:xfrm>
          <a:prstGeom prst="roundRect">
            <a:avLst/>
          </a:prstGeom>
          <a:solidFill>
            <a:srgbClr val="F5F7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888736"/>
            <a:ext cx="98755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20">
                <a:solidFill>
                  <a:srgbClr val="2D2D2D"/>
                </a:solidFill>
                <a:latin typeface="Consolas"/>
              </a:rPr>
              <a:t>./scripts/mvn17.sh -q -f minisql-client/pom.xml -DskipTests exec:java -Dexec.mainClass=com.zju.minisql.client.demo.GroupBQueryDemo</a:t>
            </a:r>
            <a:endParaRPr sz="920">
              <a:solidFill>
                <a:srgbClr val="2D2D2D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PingFang SC" panose="020B0400000000000000" charset="-122"/>
              </a:rPr>
              <a:t>测试设计与验证结果</a:t>
            </a:r>
            <a:endParaRPr sz="28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89611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PingFang SC" panose="020B0400000000000000" charset="-122"/>
              </a:rPr>
              <a:t>单元测试 + 路由测试 + 端到端 RPC 集成测试</a:t>
            </a:r>
            <a:endParaRPr sz="12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272784"/>
            <a:ext cx="11155680" cy="9144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632764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PingFang SC" panose="020B0400000000000000" charset="-122"/>
              </a:rPr>
              <a:t>12</a:t>
            </a:r>
            <a:endParaRPr sz="10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1234440"/>
            <a:ext cx="274320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234440"/>
            <a:ext cx="2743200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63040"/>
            <a:ext cx="24140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  <a:latin typeface="PingFang SC" panose="020B0400000000000000" charset="-122"/>
              </a:rPr>
              <a:t>解析测试</a:t>
            </a:r>
            <a:endParaRPr sz="16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4671" y="1856232"/>
            <a:ext cx="2414016" cy="3593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JSqlParserSqlParserTest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聚合 SQL 解析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Join SQL 解析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234440"/>
            <a:ext cx="274320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66160" y="1234440"/>
            <a:ext cx="2743200" cy="16459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0752" y="1463040"/>
            <a:ext cx="24140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70AD47"/>
                </a:solidFill>
                <a:latin typeface="PingFang SC" panose="020B0400000000000000" charset="-122"/>
              </a:rPr>
              <a:t>执行测试</a:t>
            </a:r>
            <a:endParaRPr sz="1600" b="1">
              <a:solidFill>
                <a:srgbClr val="70AD47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730752" y="1856232"/>
            <a:ext cx="2414016" cy="3593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QueryFragmentExecutorTest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过滤 + 投影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局部聚合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本地 Join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234440"/>
            <a:ext cx="274320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0" y="1234440"/>
            <a:ext cx="2743200" cy="1645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1" y="1463040"/>
            <a:ext cx="24140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D7D31"/>
                </a:solidFill>
                <a:latin typeface="PingFang SC" panose="020B0400000000000000" charset="-122"/>
              </a:rPr>
              <a:t>路由测试</a:t>
            </a:r>
            <a:endParaRPr sz="1600" b="1">
              <a:solidFill>
                <a:srgbClr val="ED7D31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56831" y="1856232"/>
            <a:ext cx="2414016" cy="3593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HashQueryRouterTest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主键精准路由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非分片键广播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1234440"/>
            <a:ext cx="23774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20" y="1234440"/>
            <a:ext cx="2377440" cy="164592"/>
          </a:xfrm>
          <a:prstGeom prst="rect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82912" y="1463040"/>
            <a:ext cx="2048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504D"/>
                </a:solidFill>
                <a:latin typeface="PingFang SC" panose="020B0400000000000000" charset="-122"/>
              </a:rPr>
              <a:t>端到端</a:t>
            </a:r>
            <a:endParaRPr sz="1600" b="1">
              <a:solidFill>
                <a:srgbClr val="C0504D"/>
              </a:solidFill>
              <a:latin typeface="PingFang SC" panose="020B0400000000000000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582912" y="1856232"/>
            <a:ext cx="2048256" cy="3593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DistributedQueryCoordinatorIntegrationTest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2 个 RPC Worker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点查/聚合/Join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5715000"/>
            <a:ext cx="10607040" cy="384048"/>
          </a:xfrm>
          <a:prstGeom prst="roundRect">
            <a:avLst/>
          </a:prstGeom>
          <a:solidFill>
            <a:srgbClr val="F5F7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39" y="5824728"/>
            <a:ext cx="1033271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D2D2D"/>
                </a:solidFill>
                <a:latin typeface="Consolas"/>
              </a:rPr>
              <a:t>最新验证：./scripts/mvn17.sh -q test  通过；RPC 测试已改为动态端口并主动释放服务端资源。</a:t>
            </a:r>
            <a:endParaRPr sz="1050">
              <a:solidFill>
                <a:srgbClr val="2D2D2D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94080" cy="521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PingFang SC" panose="020B0400000000000000" charset="-122"/>
              </a:rPr>
              <a:t>总结</a:t>
            </a:r>
            <a:endParaRPr sz="28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272784"/>
            <a:ext cx="11155680" cy="9144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01400" y="632764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PingFang SC" panose="020B0400000000000000" charset="-122"/>
              </a:rPr>
              <a:t>13</a:t>
            </a:r>
            <a:endParaRPr sz="1000" b="0">
              <a:solidFill>
                <a:srgbClr val="595959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994410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325880"/>
            <a:ext cx="9944100" cy="164465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5985" y="1554480"/>
            <a:ext cx="930021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sz="1600" b="1">
                <a:solidFill>
                  <a:srgbClr val="70AD47"/>
                </a:solidFill>
                <a:latin typeface="PingFang SC" panose="020B0400000000000000" charset="-122"/>
              </a:rPr>
              <a:t>模块</a:t>
            </a:r>
            <a:r>
              <a:rPr lang="zh-CN" sz="1600" b="1">
                <a:solidFill>
                  <a:srgbClr val="70AD47"/>
                </a:solidFill>
                <a:latin typeface="PingFang SC" panose="020B0400000000000000" charset="-122"/>
              </a:rPr>
              <a:t>能力</a:t>
            </a:r>
            <a:endParaRPr lang="zh-CN" sz="1600" b="1">
              <a:solidFill>
                <a:srgbClr val="70AD47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95985" y="1947545"/>
            <a:ext cx="9300210" cy="1257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完成 SQL 到 QueryResult 的完整链路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接入 ZooKeeper、Metadata、RPC 和 Worker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支持过滤、投影、聚合、Join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  <a:r>
              <a:t>自动化测试覆盖核心路径</a:t>
            </a:r>
          </a:p>
          <a:p>
            <a:pPr>
              <a:spcAft>
                <a:spcPts val="400"/>
              </a:spcAft>
              <a:defRPr sz="1250">
                <a:solidFill>
                  <a:srgbClr val="262626"/>
                </a:solidFill>
                <a:latin typeface="PingFang SC" panose="020B0400000000000000" charset="-122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2394903" y="5669280"/>
            <a:ext cx="7280275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zh-CN" sz="1400" b="1">
                <a:solidFill>
                  <a:srgbClr val="1F4E79"/>
                </a:solidFill>
                <a:latin typeface="PingFang SC" panose="020B0400000000000000" charset="-122"/>
              </a:rPr>
              <a:t>当前</a:t>
            </a:r>
            <a:r>
              <a:rPr sz="1400" b="1">
                <a:solidFill>
                  <a:srgbClr val="1F4E79"/>
                </a:solidFill>
                <a:latin typeface="PingFang SC" panose="020B0400000000000000" charset="-122"/>
              </a:rPr>
              <a:t>模块让 MiniSQL 具备了“能解析、能路由、能分布式执行、能汇总结果”的查询能力。</a:t>
            </a:r>
            <a:endParaRPr sz="1400" b="1">
              <a:solidFill>
                <a:srgbClr val="1F4E79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3921</Words>
  <Application>WPS 演示</Application>
  <PresentationFormat>On-screen Show (4:3)</PresentationFormat>
  <Paragraphs>368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30" baseType="lpstr">
      <vt:lpstr>Arial</vt:lpstr>
      <vt:lpstr>宋体</vt:lpstr>
      <vt:lpstr>Wingdings</vt:lpstr>
      <vt:lpstr>Arial</vt:lpstr>
      <vt:lpstr>PingFang SC</vt:lpstr>
      <vt:lpstr>Consolas</vt:lpstr>
      <vt:lpstr>Thonburi</vt:lpstr>
      <vt:lpstr>Calibri</vt:lpstr>
      <vt:lpstr>Helvetica Neue</vt:lpstr>
      <vt:lpstr>宋体</vt:lpstr>
      <vt:lpstr>宋体-简</vt:lpstr>
      <vt:lpstr>微软雅黑</vt:lpstr>
      <vt:lpstr>汉仪旗黑</vt:lpstr>
      <vt:lpstr>Arial Unicode MS</vt:lpstr>
      <vt:lpstr>Consolas</vt:lpstr>
      <vt:lpstr>苹方-简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WPS_1650121313</cp:lastModifiedBy>
  <cp:revision>2</cp:revision>
  <dcterms:created xsi:type="dcterms:W3CDTF">2026-05-16T07:04:04Z</dcterms:created>
  <dcterms:modified xsi:type="dcterms:W3CDTF">2026-05-16T07:04:04Z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2052-12.1.25895.25895</vt:lpwstr>
  </property>
  <property fmtid="{D5CDD505-2E9C-101B-9397-08002B2CF9AE}" pid="3" name="ICV">
    <vt:lpwstr>B964D10B42B875C3E416086A46FC34C3_42</vt:lpwstr>
  </property>
</Properties>
</file>